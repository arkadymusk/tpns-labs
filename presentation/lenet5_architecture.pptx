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7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4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2805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Тема доклада — архитектура LeNet-5. Цель — не показывать эксперимент, а разобрать устройство классической сверточной сети для распознавания рукописных цифр.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LeNet-5 решает задачу классификации изображений. На вход подается черно-белая картинка цифры размером 28 на 28 пикселей. На выходе сеть выбирает один из 10 классов — цифру от 0 до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Обычная полносвязная сеть разворачивает картинку в длинный список, из-за чего пространственные связи становятся менее явными. CNN анализирует маленькие области изображения, поэтому она лучше подходит для картинок.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LeNet-5 можно объяснить как конвейер. Сначала идут сверточные слои, которые выделяют признаки. Потом pooling уменьшает размерность. В конце полносвязные слои принимают решение о классе.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важно показать не математику, а изменение формы данных. Из одной картинки сеть создает несколько карт признаков, затем уменьшает их размер, после чего превращает всё в вектор из 400 чисел.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Свертка — главный механизм CNN. Фильтр небольшого размера проходит по изображению и ищет локальный признак. Результатом является карта признаков, показывающая, где этот признак найден.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Pooling уменьшает размер карт признаков. В LeNet-5 используется average pooling: окно 2 на 2 заменяется средним значением. Это уменьшает количество вычислений и делает сеть устойчивее к небольшим сдвигам цифры.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После сверток и pooling получается вектор из 400 признаков. Полносвязные слои преобразуют его в 10 выходов. Класс выбирается по максимальному выходному значению.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конце стоит подчеркнуть четыре ключевых шага: свертка, pooling, flatten и полносвязная классификация. LeNet-5 важна как простой и понятный пример сверточной архитектуры.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8D1C3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817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817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94944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3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</a:t>
            </a:r>
            <a:endParaRPr lang="en-US" sz="4300" dirty="0"/>
          </a:p>
          <a:p>
            <a:pPr marL="0" indent="0">
              <a:buNone/>
            </a:pPr>
            <a:r>
              <a:rPr lang="en-US" sz="43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LeNet-5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85800" y="2176272"/>
            <a:ext cx="5440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625C53"/>
                </a:solidFill>
              </a:rPr>
              <a:t>Классическая сверточная сеть для распознавания рукописных цифр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6355080" y="566928"/>
            <a:ext cx="4663440" cy="4663440"/>
          </a:xfrm>
          <a:prstGeom prst="arc">
            <a:avLst/>
          </a:prstGeom>
          <a:noFill/>
          <a:ln w="26670">
            <a:solidFill>
              <a:srgbClr val="2D5BFF">
                <a:alpha val="8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12280" y="1005840"/>
            <a:ext cx="3749040" cy="3749040"/>
          </a:xfrm>
          <a:prstGeom prst="arc">
            <a:avLst/>
          </a:prstGeom>
          <a:noFill/>
          <a:ln w="22860">
            <a:solidFill>
              <a:srgbClr val="F28C28">
                <a:alpha val="9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87184" y="1078992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800" b="1" dirty="0">
                <a:solidFill>
                  <a:srgbClr val="2722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800" dirty="0"/>
          </a:p>
        </p:txBody>
      </p:sp>
      <p:sp>
        <p:nvSpPr>
          <p:cNvPr id="7" name="Shape 5"/>
          <p:cNvSpPr/>
          <p:nvPr/>
        </p:nvSpPr>
        <p:spPr>
          <a:xfrm>
            <a:off x="7631321" y="1078992"/>
            <a:ext cx="0" cy="310896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75458" y="1078992"/>
            <a:ext cx="0" cy="310896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19595" y="1078992"/>
            <a:ext cx="0" cy="310896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3733" y="1078992"/>
            <a:ext cx="0" cy="310896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07870" y="1078992"/>
            <a:ext cx="0" cy="310896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52007" y="1078992"/>
            <a:ext cx="0" cy="310896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87184" y="1523129"/>
            <a:ext cx="3108960" cy="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87184" y="1967266"/>
            <a:ext cx="3108960" cy="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87184" y="2411403"/>
            <a:ext cx="3108960" cy="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87184" y="2855541"/>
            <a:ext cx="3108960" cy="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87184" y="3299678"/>
            <a:ext cx="3108960" cy="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87184" y="3743815"/>
            <a:ext cx="3108960" cy="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817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решает LeNet-5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5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входе изображение цифры, на выходе — один из 10 классов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834640" y="3054096"/>
            <a:ext cx="932688" cy="0"/>
          </a:xfrm>
          <a:prstGeom prst="line">
            <a:avLst/>
          </a:prstGeom>
          <a:noFill/>
          <a:ln w="22860">
            <a:solidFill>
              <a:srgbClr val="2D5BFF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6629400" y="3054096"/>
            <a:ext cx="758952" cy="0"/>
          </a:xfrm>
          <a:prstGeom prst="line">
            <a:avLst/>
          </a:prstGeom>
          <a:noFill/>
          <a:ln w="22860">
            <a:solidFill>
              <a:srgbClr val="2D5BFF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822960" y="1600200"/>
            <a:ext cx="1874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800" b="1" dirty="0">
                <a:solidFill>
                  <a:srgbClr val="2722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4800" dirty="0"/>
          </a:p>
        </p:txBody>
      </p:sp>
      <p:sp>
        <p:nvSpPr>
          <p:cNvPr id="7" name="Shape 5"/>
          <p:cNvSpPr/>
          <p:nvPr/>
        </p:nvSpPr>
        <p:spPr>
          <a:xfrm>
            <a:off x="1090749" y="1600200"/>
            <a:ext cx="0" cy="214884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58537" y="1600200"/>
            <a:ext cx="0" cy="214884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26326" y="1600200"/>
            <a:ext cx="0" cy="214884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94114" y="1600200"/>
            <a:ext cx="0" cy="214884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61903" y="1600200"/>
            <a:ext cx="0" cy="214884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29691" y="1600200"/>
            <a:ext cx="0" cy="214884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1907177"/>
            <a:ext cx="1874520" cy="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214154"/>
            <a:ext cx="1874520" cy="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2521131"/>
            <a:ext cx="1874520" cy="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2828109"/>
            <a:ext cx="1874520" cy="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135086"/>
            <a:ext cx="1874520" cy="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3442063"/>
            <a:ext cx="1874520" cy="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096512"/>
            <a:ext cx="1965960" cy="658368"/>
          </a:xfrm>
          <a:prstGeom prst="roundRect">
            <a:avLst>
              <a:gd name="adj" fmla="val 11111"/>
            </a:avLst>
          </a:prstGeom>
          <a:solidFill>
            <a:srgbClr val="FFF9ED"/>
          </a:solidFill>
          <a:ln w="12700">
            <a:solidFill>
              <a:srgbClr val="E8E0D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× 28 × 28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886200" y="2267712"/>
            <a:ext cx="2514600" cy="1572768"/>
          </a:xfrm>
          <a:prstGeom prst="roundRect">
            <a:avLst>
              <a:gd name="adj" fmla="val 4651"/>
            </a:avLst>
          </a:prstGeom>
          <a:solidFill>
            <a:srgbClr val="DDE7FF"/>
          </a:solidFill>
          <a:ln w="12700">
            <a:solidFill>
              <a:srgbClr val="2D5B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LeNet-5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выделяет признаки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653528" y="2286000"/>
            <a:ext cx="2926080" cy="1517904"/>
          </a:xfrm>
          <a:prstGeom prst="roundRect">
            <a:avLst>
              <a:gd name="adj" fmla="val 4819"/>
            </a:avLst>
          </a:prstGeom>
          <a:solidFill>
            <a:srgbClr val="F3E8FF"/>
          </a:solidFill>
          <a:ln w="12700">
            <a:solidFill>
              <a:srgbClr val="6F42C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цифра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0 1 2 3 4 5 6 7 8 9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10607040" y="2487168"/>
            <a:ext cx="411480" cy="1170432"/>
          </a:xfrm>
          <a:prstGeom prst="chevron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817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не просто MLP?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5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Сверточная сеть сохраняет пространственную структуру изображения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50876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FFF2D8"/>
          </a:solidFill>
          <a:ln w="12700">
            <a:solidFill>
              <a:srgbClr val="F28C2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13232" y="2139696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800" b="1" dirty="0">
                <a:solidFill>
                  <a:srgbClr val="2722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800" dirty="0"/>
          </a:p>
        </p:txBody>
      </p:sp>
      <p:sp>
        <p:nvSpPr>
          <p:cNvPr id="6" name="Shape 4"/>
          <p:cNvSpPr/>
          <p:nvPr/>
        </p:nvSpPr>
        <p:spPr>
          <a:xfrm>
            <a:off x="896112" y="2139696"/>
            <a:ext cx="0" cy="128016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8992" y="2139696"/>
            <a:ext cx="0" cy="128016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61872" y="2139696"/>
            <a:ext cx="0" cy="128016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44752" y="2139696"/>
            <a:ext cx="0" cy="128016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27632" y="2139696"/>
            <a:ext cx="0" cy="128016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10512" y="2139696"/>
            <a:ext cx="0" cy="128016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2322576"/>
            <a:ext cx="1280160" cy="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2505456"/>
            <a:ext cx="1280160" cy="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2688336"/>
            <a:ext cx="1280160" cy="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2871216"/>
            <a:ext cx="1280160" cy="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3054096"/>
            <a:ext cx="1280160" cy="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3236976"/>
            <a:ext cx="1280160" cy="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48840" y="2770632"/>
            <a:ext cx="731520" cy="0"/>
          </a:xfrm>
          <a:prstGeom prst="line">
            <a:avLst/>
          </a:prstGeom>
          <a:noFill/>
          <a:ln w="19050">
            <a:solidFill>
              <a:srgbClr val="F28C28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2971800" y="2267712"/>
            <a:ext cx="2057400" cy="1033272"/>
          </a:xfrm>
          <a:prstGeom prst="roundRect">
            <a:avLst>
              <a:gd name="adj" fmla="val 7080"/>
            </a:avLst>
          </a:prstGeom>
          <a:solidFill>
            <a:srgbClr val="FFF2D8"/>
          </a:solidFill>
          <a:ln w="12700">
            <a:solidFill>
              <a:srgbClr val="F28C2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784 пикселя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длинный список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3232" y="4114800"/>
            <a:ext cx="4709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25C53"/>
                </a:solidFill>
              </a:rPr>
              <a:t>Соседство пикселей теряется: линия или угол становятся просто набором чисел.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583680" y="150876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DDE7FF"/>
          </a:solidFill>
          <a:ln w="12700">
            <a:solidFill>
              <a:srgbClr val="2D5B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400800" y="2121408"/>
            <a:ext cx="138988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800" b="1" dirty="0">
                <a:solidFill>
                  <a:srgbClr val="2722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800" dirty="0"/>
          </a:p>
        </p:txBody>
      </p:sp>
      <p:sp>
        <p:nvSpPr>
          <p:cNvPr id="23" name="Shape 21"/>
          <p:cNvSpPr/>
          <p:nvPr/>
        </p:nvSpPr>
        <p:spPr>
          <a:xfrm>
            <a:off x="6599355" y="2121408"/>
            <a:ext cx="0" cy="1389888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97911" y="2121408"/>
            <a:ext cx="0" cy="1389888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96466" y="2121408"/>
            <a:ext cx="0" cy="1389888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95022" y="2121408"/>
            <a:ext cx="0" cy="1389888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93577" y="2121408"/>
            <a:ext cx="0" cy="1389888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92133" y="2121408"/>
            <a:ext cx="0" cy="1389888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2319963"/>
            <a:ext cx="1389888" cy="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2518519"/>
            <a:ext cx="1389888" cy="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2717074"/>
            <a:ext cx="1389888" cy="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0" y="2915630"/>
            <a:ext cx="1389888" cy="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0" y="3114185"/>
            <a:ext cx="1389888" cy="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0" y="3312741"/>
            <a:ext cx="1389888" cy="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03720" y="2542032"/>
            <a:ext cx="384048" cy="384048"/>
          </a:xfrm>
          <a:prstGeom prst="rect">
            <a:avLst/>
          </a:prstGeom>
          <a:solidFill>
            <a:srgbClr val="2D5BFF">
              <a:alpha val="75000"/>
            </a:srgbClr>
          </a:solidFill>
          <a:ln w="25400">
            <a:solidFill>
              <a:srgbClr val="2D5B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46720" y="2770632"/>
            <a:ext cx="685800" cy="0"/>
          </a:xfrm>
          <a:prstGeom prst="line">
            <a:avLst/>
          </a:prstGeom>
          <a:noFill/>
          <a:ln w="19050">
            <a:solidFill>
              <a:srgbClr val="2D5BFF"/>
            </a:solidFill>
            <a:prstDash val="solid"/>
            <a:headEnd type="non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8915400" y="2267712"/>
            <a:ext cx="2121408" cy="1033272"/>
          </a:xfrm>
          <a:prstGeom prst="roundRect">
            <a:avLst>
              <a:gd name="adj" fmla="val 7080"/>
            </a:avLst>
          </a:prstGeom>
          <a:solidFill>
            <a:srgbClr val="DDE7FF"/>
          </a:solidFill>
          <a:ln w="12700">
            <a:solidFill>
              <a:srgbClr val="2D5B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маленькие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локальные области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400800" y="411480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25C53"/>
                </a:solidFill>
              </a:rPr>
              <a:t>Фильтр “скользит” по картинке и ищет признаки: линию, край, дугу, петлю.</a:t>
            </a:r>
            <a:endParaRPr lang="en-US" sz="155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817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LeNet-5: общий конвейер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5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Последовательность слоёв от пикселей до класса цифры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719072" y="2715768"/>
            <a:ext cx="182880" cy="0"/>
          </a:xfrm>
          <a:prstGeom prst="line">
            <a:avLst/>
          </a:prstGeom>
          <a:noFill/>
          <a:ln w="14605">
            <a:solidFill>
              <a:srgbClr val="9A9287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3136392" y="2715768"/>
            <a:ext cx="182880" cy="0"/>
          </a:xfrm>
          <a:prstGeom prst="line">
            <a:avLst/>
          </a:prstGeom>
          <a:noFill/>
          <a:ln w="14605">
            <a:solidFill>
              <a:srgbClr val="9A9287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553712" y="2715768"/>
            <a:ext cx="182880" cy="0"/>
          </a:xfrm>
          <a:prstGeom prst="line">
            <a:avLst/>
          </a:prstGeom>
          <a:noFill/>
          <a:ln w="14605">
            <a:solidFill>
              <a:srgbClr val="9A9287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971032" y="2715768"/>
            <a:ext cx="182880" cy="0"/>
          </a:xfrm>
          <a:prstGeom prst="line">
            <a:avLst/>
          </a:prstGeom>
          <a:noFill/>
          <a:ln w="14605">
            <a:solidFill>
              <a:srgbClr val="9A9287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388352" y="2715768"/>
            <a:ext cx="182880" cy="0"/>
          </a:xfrm>
          <a:prstGeom prst="line">
            <a:avLst/>
          </a:prstGeom>
          <a:noFill/>
          <a:ln w="14605">
            <a:solidFill>
              <a:srgbClr val="9A9287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805672" y="2715768"/>
            <a:ext cx="182880" cy="0"/>
          </a:xfrm>
          <a:prstGeom prst="line">
            <a:avLst/>
          </a:prstGeom>
          <a:noFill/>
          <a:ln w="14605">
            <a:solidFill>
              <a:srgbClr val="9A9287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0222992" y="2715768"/>
            <a:ext cx="182880" cy="0"/>
          </a:xfrm>
          <a:prstGeom prst="line">
            <a:avLst/>
          </a:prstGeom>
          <a:noFill/>
          <a:ln w="14605">
            <a:solidFill>
              <a:srgbClr val="9A9287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94360" y="2331720"/>
            <a:ext cx="1078992" cy="768096"/>
          </a:xfrm>
          <a:prstGeom prst="roundRect">
            <a:avLst>
              <a:gd name="adj" fmla="val 9524"/>
            </a:avLst>
          </a:prstGeom>
          <a:solidFill>
            <a:srgbClr val="FFF9ED"/>
          </a:solidFill>
          <a:ln w="12700">
            <a:solidFill>
              <a:srgbClr val="E8E0D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1×28×28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011680" y="2331720"/>
            <a:ext cx="1078992" cy="768096"/>
          </a:xfrm>
          <a:prstGeom prst="roundRect">
            <a:avLst>
              <a:gd name="adj" fmla="val 9524"/>
            </a:avLst>
          </a:prstGeom>
          <a:solidFill>
            <a:srgbClr val="DDE7FF"/>
          </a:solidFill>
          <a:ln w="12700">
            <a:solidFill>
              <a:srgbClr val="2D5B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 1→6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29000" y="2331720"/>
            <a:ext cx="1078992" cy="768096"/>
          </a:xfrm>
          <a:prstGeom prst="roundRect">
            <a:avLst>
              <a:gd name="adj" fmla="val 9524"/>
            </a:avLst>
          </a:prstGeom>
          <a:solidFill>
            <a:srgbClr val="E8F6EF"/>
          </a:solidFill>
          <a:ln w="12700">
            <a:solidFill>
              <a:srgbClr val="3C8D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AvgPool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46320" y="2331720"/>
            <a:ext cx="1078992" cy="768096"/>
          </a:xfrm>
          <a:prstGeom prst="roundRect">
            <a:avLst>
              <a:gd name="adj" fmla="val 9524"/>
            </a:avLst>
          </a:prstGeom>
          <a:solidFill>
            <a:srgbClr val="DDE7FF"/>
          </a:solidFill>
          <a:ln w="12700">
            <a:solidFill>
              <a:srgbClr val="2D5B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 6→16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63640" y="2331720"/>
            <a:ext cx="1078992" cy="768096"/>
          </a:xfrm>
          <a:prstGeom prst="roundRect">
            <a:avLst>
              <a:gd name="adj" fmla="val 9524"/>
            </a:avLst>
          </a:prstGeom>
          <a:solidFill>
            <a:srgbClr val="E8F6EF"/>
          </a:solidFill>
          <a:ln w="12700">
            <a:solidFill>
              <a:srgbClr val="3C8D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AvgPool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680960" y="2331720"/>
            <a:ext cx="1078992" cy="768096"/>
          </a:xfrm>
          <a:prstGeom prst="roundRect">
            <a:avLst>
              <a:gd name="adj" fmla="val 9524"/>
            </a:avLst>
          </a:prstGeom>
          <a:solidFill>
            <a:srgbClr val="FFF2D8"/>
          </a:solidFill>
          <a:ln w="12700">
            <a:solidFill>
              <a:srgbClr val="F28C2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Flatten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098280" y="2331720"/>
            <a:ext cx="1078992" cy="768096"/>
          </a:xfrm>
          <a:prstGeom prst="roundRect">
            <a:avLst>
              <a:gd name="adj" fmla="val 9524"/>
            </a:avLst>
          </a:prstGeom>
          <a:solidFill>
            <a:srgbClr val="F3E8FF"/>
          </a:solidFill>
          <a:ln w="12700">
            <a:solidFill>
              <a:srgbClr val="6F42C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120→84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515600" y="2331720"/>
            <a:ext cx="1078992" cy="768096"/>
          </a:xfrm>
          <a:prstGeom prst="roundRect">
            <a:avLst>
              <a:gd name="adj" fmla="val 9524"/>
            </a:avLst>
          </a:prstGeom>
          <a:solidFill>
            <a:srgbClr val="FFF9ED"/>
          </a:solidFill>
          <a:ln w="12700">
            <a:solidFill>
              <a:srgbClr val="E8E0D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классов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783080" y="3794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2D5BFF"/>
                </a:solidFill>
              </a:rPr>
              <a:t>C — convolution: выделение признаков</a:t>
            </a:r>
            <a:endParaRPr lang="en-US" sz="1520" dirty="0"/>
          </a:p>
        </p:txBody>
      </p:sp>
      <p:sp>
        <p:nvSpPr>
          <p:cNvPr id="20" name="Text 18"/>
          <p:cNvSpPr/>
          <p:nvPr/>
        </p:nvSpPr>
        <p:spPr>
          <a:xfrm>
            <a:off x="4754880" y="379476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3C8D5A"/>
                </a:solidFill>
              </a:rPr>
              <a:t>S — subsampling / pooling: уменьшение карт признаков</a:t>
            </a:r>
            <a:endParaRPr lang="en-US" sz="1520" dirty="0"/>
          </a:p>
        </p:txBody>
      </p:sp>
      <p:sp>
        <p:nvSpPr>
          <p:cNvPr id="21" name="Text 19"/>
          <p:cNvSpPr/>
          <p:nvPr/>
        </p:nvSpPr>
        <p:spPr>
          <a:xfrm>
            <a:off x="8275320" y="4251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6F42C1"/>
                </a:solidFill>
              </a:rPr>
              <a:t>FC — fully connected: решение по признакам</a:t>
            </a:r>
            <a:endParaRPr lang="en-US" sz="1520" dirty="0"/>
          </a:p>
        </p:txBody>
      </p:sp>
      <p:sp>
        <p:nvSpPr>
          <p:cNvPr id="22" name="Shape 20"/>
          <p:cNvSpPr/>
          <p:nvPr/>
        </p:nvSpPr>
        <p:spPr>
          <a:xfrm>
            <a:off x="2011680" y="3675888"/>
            <a:ext cx="1645920" cy="0"/>
          </a:xfrm>
          <a:prstGeom prst="line">
            <a:avLst/>
          </a:prstGeom>
          <a:noFill/>
          <a:ln w="38100">
            <a:solidFill>
              <a:srgbClr val="2D5B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3675888"/>
            <a:ext cx="1645920" cy="0"/>
          </a:xfrm>
          <a:prstGeom prst="line">
            <a:avLst/>
          </a:prstGeom>
          <a:noFill/>
          <a:ln w="38100">
            <a:solidFill>
              <a:srgbClr val="3C8D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75320" y="4133088"/>
            <a:ext cx="1645920" cy="0"/>
          </a:xfrm>
          <a:prstGeom prst="line">
            <a:avLst/>
          </a:prstGeom>
          <a:noFill/>
          <a:ln w="38100">
            <a:solidFill>
              <a:srgbClr val="6F42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5257800"/>
            <a:ext cx="10149840" cy="566928"/>
          </a:xfrm>
          <a:prstGeom prst="round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D8D1C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Пиксели → карты признаков → компактное представление → класс</a:t>
            </a:r>
            <a:endParaRPr lang="en-US" sz="19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817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Размерности по слоям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5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изображение постепенно превращается в вектор признаков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103120" y="2788920"/>
            <a:ext cx="640080" cy="0"/>
          </a:xfrm>
          <a:prstGeom prst="line">
            <a:avLst/>
          </a:prstGeom>
          <a:noFill/>
          <a:ln w="15240">
            <a:solidFill>
              <a:srgbClr val="625C53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3931920" y="2788920"/>
            <a:ext cx="640080" cy="0"/>
          </a:xfrm>
          <a:prstGeom prst="line">
            <a:avLst/>
          </a:prstGeom>
          <a:noFill/>
          <a:ln w="15240">
            <a:solidFill>
              <a:srgbClr val="625C53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715000" y="2788920"/>
            <a:ext cx="640080" cy="0"/>
          </a:xfrm>
          <a:prstGeom prst="line">
            <a:avLst/>
          </a:prstGeom>
          <a:noFill/>
          <a:ln w="15240">
            <a:solidFill>
              <a:srgbClr val="625C53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498080" y="2788920"/>
            <a:ext cx="640080" cy="0"/>
          </a:xfrm>
          <a:prstGeom prst="line">
            <a:avLst/>
          </a:prstGeom>
          <a:noFill/>
          <a:ln w="15240">
            <a:solidFill>
              <a:srgbClr val="625C53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281160" y="2788920"/>
            <a:ext cx="640080" cy="0"/>
          </a:xfrm>
          <a:prstGeom prst="line">
            <a:avLst/>
          </a:prstGeom>
          <a:noFill/>
          <a:ln w="15240">
            <a:solidFill>
              <a:srgbClr val="625C53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68680" y="2240280"/>
            <a:ext cx="960120" cy="96012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65376" y="2286000"/>
            <a:ext cx="0" cy="868680"/>
          </a:xfrm>
          <a:prstGeom prst="line">
            <a:avLst/>
          </a:prstGeom>
          <a:noFill/>
          <a:ln w="1460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3282696"/>
            <a:ext cx="1380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25C53"/>
                </a:solidFill>
              </a:rPr>
              <a:t>1×28×28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880360" y="2084832"/>
            <a:ext cx="877824" cy="877824"/>
          </a:xfrm>
          <a:prstGeom prst="rect">
            <a:avLst/>
          </a:prstGeom>
          <a:solidFill>
            <a:srgbClr val="DDE7FF">
              <a:alpha val="92000"/>
            </a:srgbClr>
          </a:solidFill>
          <a:ln w="12700">
            <a:solidFill>
              <a:srgbClr val="DDE7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94760" y="2130552"/>
            <a:ext cx="0" cy="786384"/>
          </a:xfrm>
          <a:prstGeom prst="line">
            <a:avLst/>
          </a:prstGeom>
          <a:noFill/>
          <a:ln w="24130">
            <a:solidFill>
              <a:srgbClr val="DDE7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15768" y="304495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25C53"/>
                </a:solidFill>
              </a:rPr>
              <a:t>6×28×28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9160" y="2240280"/>
            <a:ext cx="713232" cy="713232"/>
          </a:xfrm>
          <a:prstGeom prst="rect">
            <a:avLst/>
          </a:prstGeom>
          <a:solidFill>
            <a:srgbClr val="E8F6EF">
              <a:alpha val="92000"/>
            </a:srgbClr>
          </a:solidFill>
          <a:ln w="12700">
            <a:solidFill>
              <a:srgbClr val="E8F6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58968" y="2286000"/>
            <a:ext cx="0" cy="621792"/>
          </a:xfrm>
          <a:prstGeom prst="line">
            <a:avLst/>
          </a:prstGeom>
          <a:noFill/>
          <a:ln w="20320">
            <a:solidFill>
              <a:srgbClr val="E8F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44568" y="3035808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25C53"/>
                </a:solidFill>
              </a:rPr>
              <a:t>6×14×14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46520" y="2267712"/>
            <a:ext cx="676656" cy="676656"/>
          </a:xfrm>
          <a:prstGeom prst="rect">
            <a:avLst/>
          </a:prstGeom>
          <a:solidFill>
            <a:srgbClr val="DDE7FF">
              <a:alpha val="92000"/>
            </a:srgbClr>
          </a:solidFill>
          <a:ln w="12700">
            <a:solidFill>
              <a:srgbClr val="DDE7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59752" y="2313432"/>
            <a:ext cx="0" cy="585216"/>
          </a:xfrm>
          <a:prstGeom prst="line">
            <a:avLst/>
          </a:prstGeom>
          <a:noFill/>
          <a:ln w="27940">
            <a:solidFill>
              <a:srgbClr val="DDE7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81928" y="30266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25C53"/>
                </a:solidFill>
              </a:rPr>
              <a:t>16×10×10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229600" y="2395728"/>
            <a:ext cx="530352" cy="530352"/>
          </a:xfrm>
          <a:prstGeom prst="rect">
            <a:avLst/>
          </a:prstGeom>
          <a:solidFill>
            <a:srgbClr val="E8F6EF">
              <a:alpha val="92000"/>
            </a:srgbClr>
          </a:solidFill>
          <a:ln w="12700">
            <a:solidFill>
              <a:srgbClr val="E8F6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96528" y="2441448"/>
            <a:ext cx="0" cy="438912"/>
          </a:xfrm>
          <a:prstGeom prst="line">
            <a:avLst/>
          </a:prstGeom>
          <a:noFill/>
          <a:ln w="24130">
            <a:solidFill>
              <a:srgbClr val="E8F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65008" y="3008376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25C53"/>
                </a:solidFill>
              </a:rPr>
              <a:t>16×5×5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012680" y="2286000"/>
            <a:ext cx="1051560" cy="868680"/>
          </a:xfrm>
          <a:prstGeom prst="roundRect">
            <a:avLst>
              <a:gd name="adj" fmla="val 8421"/>
            </a:avLst>
          </a:prstGeom>
          <a:solidFill>
            <a:srgbClr val="FFF2D8"/>
          </a:solidFill>
          <a:ln w="12700">
            <a:solidFill>
              <a:srgbClr val="F28C2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признаков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05840" y="434340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7221D"/>
                </a:solidFill>
              </a:rPr>
              <a:t>Переход к полносвязной части: 16 × 5 × 5 = 400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417320" y="5010912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25C53"/>
                </a:solidFill>
              </a:rPr>
              <a:t>Свертки увеличивают число карт признаков, pooling уменьшает пространственный размер.</a:t>
            </a:r>
            <a:endParaRPr lang="en-US" sz="16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817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Свертка: фильтр ищет локальный признак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5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фильтр обучается реагировать на определённый элемент изображения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1248" y="1572768"/>
            <a:ext cx="1874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800" b="1" dirty="0">
                <a:solidFill>
                  <a:srgbClr val="2722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800" dirty="0"/>
          </a:p>
        </p:txBody>
      </p:sp>
      <p:sp>
        <p:nvSpPr>
          <p:cNvPr id="5" name="Shape 3"/>
          <p:cNvSpPr/>
          <p:nvPr/>
        </p:nvSpPr>
        <p:spPr>
          <a:xfrm>
            <a:off x="1109037" y="1572768"/>
            <a:ext cx="0" cy="187452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6825" y="1572768"/>
            <a:ext cx="0" cy="187452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4614" y="1572768"/>
            <a:ext cx="0" cy="187452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12402" y="1572768"/>
            <a:ext cx="0" cy="187452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80191" y="1572768"/>
            <a:ext cx="0" cy="187452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47979" y="1572768"/>
            <a:ext cx="0" cy="187452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1840557"/>
            <a:ext cx="1874520" cy="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2108345"/>
            <a:ext cx="1874520" cy="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2376134"/>
            <a:ext cx="1874520" cy="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2643922"/>
            <a:ext cx="1874520" cy="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2911711"/>
            <a:ext cx="1874520" cy="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3179499"/>
            <a:ext cx="1874520" cy="0"/>
          </a:xfrm>
          <a:prstGeom prst="line">
            <a:avLst/>
          </a:prstGeom>
          <a:noFill/>
          <a:ln w="5080">
            <a:solidFill>
              <a:srgbClr val="D8D1C3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98448" y="2057400"/>
            <a:ext cx="566928" cy="566928"/>
          </a:xfrm>
          <a:prstGeom prst="rect">
            <a:avLst/>
          </a:prstGeom>
          <a:solidFill>
            <a:srgbClr val="F28C28">
              <a:alpha val="65000"/>
            </a:srgbClr>
          </a:solidFill>
          <a:ln w="25400">
            <a:solidFill>
              <a:srgbClr val="F28C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53512" y="2578608"/>
            <a:ext cx="932688" cy="0"/>
          </a:xfrm>
          <a:prstGeom prst="line">
            <a:avLst/>
          </a:prstGeom>
          <a:noFill/>
          <a:ln w="20320">
            <a:solidFill>
              <a:srgbClr val="F28C28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069080" y="2039112"/>
            <a:ext cx="1188720" cy="1005840"/>
          </a:xfrm>
          <a:prstGeom prst="roundRect">
            <a:avLst>
              <a:gd name="adj" fmla="val 7273"/>
            </a:avLst>
          </a:prstGeom>
          <a:solidFill>
            <a:srgbClr val="FFF2D8"/>
          </a:solidFill>
          <a:ln w="12700">
            <a:solidFill>
              <a:srgbClr val="F28C2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фильтр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5×5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40680" y="2578608"/>
            <a:ext cx="914400" cy="0"/>
          </a:xfrm>
          <a:prstGeom prst="line">
            <a:avLst/>
          </a:prstGeom>
          <a:noFill/>
          <a:ln w="20320">
            <a:solidFill>
              <a:srgbClr val="2D5BFF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583680" y="1965960"/>
            <a:ext cx="960120" cy="960120"/>
          </a:xfrm>
          <a:prstGeom prst="rect">
            <a:avLst/>
          </a:prstGeom>
          <a:solidFill>
            <a:srgbClr val="DDE7FF">
              <a:alpha val="92000"/>
            </a:srgbClr>
          </a:solidFill>
          <a:ln w="12700">
            <a:solidFill>
              <a:srgbClr val="DDE7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0376" y="2011680"/>
            <a:ext cx="0" cy="868680"/>
          </a:xfrm>
          <a:prstGeom prst="line">
            <a:avLst/>
          </a:prstGeom>
          <a:noFill/>
          <a:ln w="20320">
            <a:solidFill>
              <a:srgbClr val="DDE7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19088" y="3008376"/>
            <a:ext cx="1380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25C53"/>
                </a:solidFill>
              </a:rPr>
              <a:t>карта признака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092440" y="157276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221D"/>
                </a:solidFill>
              </a:rPr>
              <a:t>Что может находить фильтр: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183880" y="1965960"/>
            <a:ext cx="2926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625C53"/>
                </a:solidFill>
              </a:rPr>
              <a:t>• вертикальную линию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625C53"/>
                </a:solidFill>
              </a:rPr>
              <a:t>• край / контур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625C53"/>
                </a:solidFill>
              </a:rPr>
              <a:t>• дугу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625C53"/>
                </a:solidFill>
              </a:rPr>
              <a:t>• угол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625C53"/>
                </a:solidFill>
              </a:rPr>
              <a:t>• петлю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920240" y="5074920"/>
            <a:ext cx="8321040" cy="548640"/>
          </a:xfrm>
          <a:prstGeom prst="round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D8D1C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фильтр → одна карта признаков</a:t>
            </a:r>
            <a:endParaRPr lang="en-US" sz="19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817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Pooling: уменьшение без потери смысла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5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LeNet-5 использует average pooling — усреднение в окне 2×2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05840" y="18745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36192" y="18745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40487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36192" y="240487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8E0D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377440" y="2359152"/>
            <a:ext cx="1051560" cy="0"/>
          </a:xfrm>
          <a:prstGeom prst="line">
            <a:avLst/>
          </a:prstGeom>
          <a:noFill/>
          <a:ln w="22860">
            <a:solidFill>
              <a:srgbClr val="3C8D5A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639312" y="2084832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E8F6EF"/>
          </a:solidFill>
          <a:ln w="12700">
            <a:solidFill>
              <a:srgbClr val="3C8D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327355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25C53"/>
                </a:solidFill>
              </a:rPr>
              <a:t>(2 + 4 + 6 + 8) / 4 = 5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669280" y="182880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DDE7FF"/>
          </a:solidFill>
          <a:ln w="12700">
            <a:solidFill>
              <a:srgbClr val="2D5B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6×28×28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223760" y="2194560"/>
            <a:ext cx="868680" cy="0"/>
          </a:xfrm>
          <a:prstGeom prst="line">
            <a:avLst/>
          </a:prstGeom>
          <a:noFill/>
          <a:ln w="21590">
            <a:solidFill>
              <a:srgbClr val="3C8D5A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321040" y="182880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E8F6EF"/>
          </a:solidFill>
          <a:ln w="12700">
            <a:solidFill>
              <a:srgbClr val="3C8D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6×14×14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623560" y="28346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25C53"/>
                </a:solidFill>
              </a:rPr>
              <a:t>Пулинг уменьшает ширину и высоту в 2 раза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325880" y="5138928"/>
            <a:ext cx="9646920" cy="548640"/>
          </a:xfrm>
          <a:prstGeom prst="round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D8D1C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Меньше вычислений + устойчивость к небольшим сдвигам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817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Классификация: от признаков к цифре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5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Полносвязные слои принимают окончательное решение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240280" y="2852928"/>
            <a:ext cx="685800" cy="0"/>
          </a:xfrm>
          <a:prstGeom prst="line">
            <a:avLst/>
          </a:prstGeom>
          <a:noFill/>
          <a:ln w="15240">
            <a:solidFill>
              <a:srgbClr val="625C53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251960" y="2852928"/>
            <a:ext cx="685800" cy="0"/>
          </a:xfrm>
          <a:prstGeom prst="line">
            <a:avLst/>
          </a:prstGeom>
          <a:noFill/>
          <a:ln w="15240">
            <a:solidFill>
              <a:srgbClr val="625C53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263640" y="2852928"/>
            <a:ext cx="685800" cy="0"/>
          </a:xfrm>
          <a:prstGeom prst="line">
            <a:avLst/>
          </a:prstGeom>
          <a:noFill/>
          <a:ln w="15240">
            <a:solidFill>
              <a:srgbClr val="625C53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275320" y="2852928"/>
            <a:ext cx="685800" cy="0"/>
          </a:xfrm>
          <a:prstGeom prst="line">
            <a:avLst/>
          </a:prstGeom>
          <a:noFill/>
          <a:ln w="15240">
            <a:solidFill>
              <a:srgbClr val="625C53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868680" y="2359152"/>
            <a:ext cx="1234440" cy="896112"/>
          </a:xfrm>
          <a:prstGeom prst="roundRect">
            <a:avLst>
              <a:gd name="adj" fmla="val 8163"/>
            </a:avLst>
          </a:prstGeom>
          <a:solidFill>
            <a:srgbClr val="FFF2D8"/>
          </a:solidFill>
          <a:ln w="12700">
            <a:solidFill>
              <a:srgbClr val="F28C2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признаков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063240" y="2514600"/>
            <a:ext cx="1051560" cy="594360"/>
          </a:xfrm>
          <a:prstGeom prst="roundRect">
            <a:avLst>
              <a:gd name="adj" fmla="val 12308"/>
            </a:avLst>
          </a:prstGeom>
          <a:solidFill>
            <a:srgbClr val="F3E8FF"/>
          </a:solidFill>
          <a:ln w="12700">
            <a:solidFill>
              <a:srgbClr val="6F42C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074920" y="2514600"/>
            <a:ext cx="1051560" cy="594360"/>
          </a:xfrm>
          <a:prstGeom prst="roundRect">
            <a:avLst>
              <a:gd name="adj" fmla="val 12308"/>
            </a:avLst>
          </a:prstGeom>
          <a:solidFill>
            <a:srgbClr val="F3E8FF"/>
          </a:solidFill>
          <a:ln w="12700">
            <a:solidFill>
              <a:srgbClr val="6F42C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086600" y="2350008"/>
            <a:ext cx="1051560" cy="896112"/>
          </a:xfrm>
          <a:prstGeom prst="roundRect">
            <a:avLst>
              <a:gd name="adj" fmla="val 8163"/>
            </a:avLst>
          </a:prstGeom>
          <a:solidFill>
            <a:srgbClr val="DDE7FF"/>
          </a:solidFill>
          <a:ln w="12700">
            <a:solidFill>
              <a:srgbClr val="2D5B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выходов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098280" y="2350008"/>
            <a:ext cx="1508760" cy="896112"/>
          </a:xfrm>
          <a:prstGeom prst="roundRect">
            <a:avLst>
              <a:gd name="adj" fmla="val 8163"/>
            </a:avLst>
          </a:prstGeom>
          <a:solidFill>
            <a:srgbClr val="E8F6EF"/>
          </a:solidFill>
          <a:ln w="12700">
            <a:solidFill>
              <a:srgbClr val="3C8D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argmax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класса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4187952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625C53"/>
                </a:solidFill>
              </a:rPr>
              <a:t>Выходы — не сами цифры, а оценки принадлежности к классам 0–9.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97280" y="4636008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625C53"/>
                </a:solidFill>
              </a:rPr>
              <a:t>Наибольшая оценка определяет предсказанный класс.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880360" y="5358384"/>
            <a:ext cx="6355080" cy="512064"/>
          </a:xfrm>
          <a:prstGeom prst="round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D8D1C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→ 120 → 84 → 10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817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важно запомнить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5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LeNet-5 — компактный образец классической CNN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286000" y="1984248"/>
            <a:ext cx="960120" cy="466344"/>
          </a:xfrm>
          <a:prstGeom prst="line">
            <a:avLst/>
          </a:prstGeom>
          <a:noFill/>
          <a:ln w="15240">
            <a:solidFill>
              <a:srgbClr val="2D5BFF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983480" y="2606040"/>
            <a:ext cx="960120" cy="457200"/>
          </a:xfrm>
          <a:prstGeom prst="line">
            <a:avLst/>
          </a:prstGeom>
          <a:noFill/>
          <a:ln w="15240">
            <a:solidFill>
              <a:srgbClr val="3C8D5A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680960" y="3218688"/>
            <a:ext cx="960120" cy="484632"/>
          </a:xfrm>
          <a:prstGeom prst="line">
            <a:avLst/>
          </a:prstGeom>
          <a:noFill/>
          <a:ln w="15240">
            <a:solidFill>
              <a:srgbClr val="6F42C1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DDE7FF"/>
          </a:solidFill>
          <a:ln w="12700">
            <a:solidFill>
              <a:srgbClr val="2D5B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Свертка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ищет признаки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337560" y="1938528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E8F6EF"/>
          </a:solidFill>
          <a:ln w="12700">
            <a:solidFill>
              <a:srgbClr val="3C8D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Pooling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сжимает карты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35040" y="256032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FFF2D8"/>
          </a:solidFill>
          <a:ln w="12700">
            <a:solidFill>
              <a:srgbClr val="F28C2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Flatten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делает вектор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32520" y="3182112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F3E8FF"/>
          </a:solidFill>
          <a:ln w="12700">
            <a:solidFill>
              <a:srgbClr val="6F42C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FC-слои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722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выбирают класс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4992624"/>
            <a:ext cx="9921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221D"/>
                </a:solidFill>
              </a:rPr>
              <a:t>LeNet-5 показывает базовый шаблон CNN, который затем развивался в более глубоких архитектурах.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88720" y="5650992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625C53"/>
                </a:solidFill>
              </a:rPr>
              <a:t>Главная идея: не запоминать пиксели напрямую, а извлекать признаки изображения слоями.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817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687</Words>
  <Application>Microsoft Macintosh PowerPoint</Application>
  <PresentationFormat>Широкоэкранный</PresentationFormat>
  <Paragraphs>135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Arial Black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Архитектура LeNet-5</dc:title>
  <dc:subject>Архитектура LeNet-5</dc:subject>
  <dc:creator>OpenAI</dc:creator>
  <cp:lastModifiedBy>Испакетов Молоко</cp:lastModifiedBy>
  <cp:revision>2</cp:revision>
  <dcterms:created xsi:type="dcterms:W3CDTF">2026-05-25T16:06:33Z</dcterms:created>
  <dcterms:modified xsi:type="dcterms:W3CDTF">2026-05-25T16:29:02Z</dcterms:modified>
</cp:coreProperties>
</file>